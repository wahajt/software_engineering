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8" r:id="rId4"/>
    <p:sldId id="260" r:id="rId5"/>
    <p:sldId id="261" r:id="rId6"/>
    <p:sldId id="259" r:id="rId7"/>
    <p:sldId id="257" r:id="rId8"/>
    <p:sldId id="262" r:id="rId9"/>
    <p:sldId id="264" r:id="rId10"/>
    <p:sldId id="26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2"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24560" y="-4445"/>
            <a:ext cx="10356850" cy="3769995"/>
          </a:xfrm>
        </p:spPr>
        <p:txBody>
          <a:bodyPr>
            <a:normAutofit/>
          </a:bodyPr>
          <a:lstStyle/>
          <a:p>
            <a:r>
              <a:rPr lang="en-US" sz="8000" b="1" dirty="0"/>
              <a:t>Fundamental Units Of Social Affairs In Islam:</a:t>
            </a:r>
            <a:endParaRPr lang="en-US" sz="8000" b="1" dirty="0"/>
          </a:p>
        </p:txBody>
      </p:sp>
      <p:sp>
        <p:nvSpPr>
          <p:cNvPr id="3" name="Subtitle 2"/>
          <p:cNvSpPr>
            <a:spLocks noGrp="1"/>
          </p:cNvSpPr>
          <p:nvPr>
            <p:ph type="subTitle" idx="1"/>
          </p:nvPr>
        </p:nvSpPr>
        <p:spPr>
          <a:xfrm>
            <a:off x="1524000" y="4271645"/>
            <a:ext cx="9144000" cy="986155"/>
          </a:xfrm>
        </p:spPr>
        <p:txBody>
          <a:bodyPr>
            <a:normAutofit fontScale="80000"/>
          </a:bodyPr>
          <a:lstStyle/>
          <a:p>
            <a:r>
              <a:rPr lang="en-US" sz="4400"/>
              <a:t>By: Anwar Ul Haq (Islamic &amp; Religious Studies)</a:t>
            </a:r>
            <a:endParaRPr lang="en-US" sz="4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1161415"/>
          </a:xfrm>
        </p:spPr>
        <p:txBody>
          <a:bodyPr/>
          <a:p>
            <a:r>
              <a:rPr lang="en-US" sz="6000" b="1" u="sng"/>
              <a:t>Duties Towards:</a:t>
            </a:r>
            <a:endParaRPr lang="en-US" sz="6000" b="1" u="sng"/>
          </a:p>
        </p:txBody>
      </p:sp>
      <p:sp>
        <p:nvSpPr>
          <p:cNvPr id="3" name="Content Placeholder 2"/>
          <p:cNvSpPr>
            <a:spLocks noGrp="1"/>
          </p:cNvSpPr>
          <p:nvPr>
            <p:ph idx="1"/>
          </p:nvPr>
        </p:nvSpPr>
        <p:spPr/>
        <p:txBody>
          <a:bodyPr>
            <a:noAutofit/>
          </a:bodyPr>
          <a:p>
            <a:r>
              <a:rPr lang="en-US" sz="4800"/>
              <a:t>Family</a:t>
            </a:r>
            <a:endParaRPr lang="en-US" sz="4800"/>
          </a:p>
          <a:p>
            <a:r>
              <a:rPr lang="en-US" sz="4800"/>
              <a:t>Relatives</a:t>
            </a:r>
            <a:endParaRPr lang="en-US" sz="4800"/>
          </a:p>
          <a:p>
            <a:r>
              <a:rPr lang="en-US" sz="4800"/>
              <a:t>Neighbours </a:t>
            </a:r>
            <a:endParaRPr lang="en-US" sz="4800"/>
          </a:p>
          <a:p>
            <a:r>
              <a:rPr lang="en-US" sz="4800"/>
              <a:t>Town</a:t>
            </a:r>
            <a:endParaRPr lang="en-US" sz="4800"/>
          </a:p>
          <a:p>
            <a:r>
              <a:rPr lang="en-US" sz="4800"/>
              <a:t>State</a:t>
            </a:r>
            <a:endParaRPr lang="en-US" sz="4800"/>
          </a:p>
          <a:p>
            <a:r>
              <a:rPr lang="en-US" sz="4800"/>
              <a:t>Ummah</a:t>
            </a:r>
            <a:endParaRPr lang="en-US" sz="4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71450"/>
            <a:ext cx="10515600" cy="968375"/>
          </a:xfrm>
        </p:spPr>
        <p:txBody>
          <a:bodyPr/>
          <a:p>
            <a:r>
              <a:rPr lang="en-US" b="1" u="sng"/>
              <a:t>Family:</a:t>
            </a:r>
            <a:endParaRPr lang="en-US" b="1" u="sng"/>
          </a:p>
        </p:txBody>
      </p:sp>
      <p:sp>
        <p:nvSpPr>
          <p:cNvPr id="3" name="Content Placeholder 2"/>
          <p:cNvSpPr>
            <a:spLocks noGrp="1"/>
          </p:cNvSpPr>
          <p:nvPr>
            <p:ph idx="1"/>
          </p:nvPr>
        </p:nvSpPr>
        <p:spPr>
          <a:xfrm>
            <a:off x="149860" y="1139190"/>
            <a:ext cx="11785600" cy="5544185"/>
          </a:xfrm>
        </p:spPr>
        <p:txBody>
          <a:bodyPr>
            <a:normAutofit lnSpcReduction="20000"/>
          </a:bodyPr>
          <a:p>
            <a:pPr marL="0" indent="0">
              <a:buNone/>
            </a:pPr>
            <a:r>
              <a:rPr lang="en-US" u="sng"/>
              <a:t>Rights Owed To Parents: </a:t>
            </a:r>
            <a:endParaRPr lang="en-US" u="sng"/>
          </a:p>
          <a:p>
            <a:pPr marL="0" indent="0">
              <a:buNone/>
            </a:pPr>
            <a:r>
              <a:rPr lang="en-US"/>
              <a:t>Children must obey their parents as long as they do not command them with something sinful. Children must treat their parents well and must be kind to them, and strive to please them and provide for them. They must secure for them their necessities from food, drink, clothing and shelter. Children must speak to them softly and should not be harsh, and they must have patience in serving them and give consideration to their feelings. They should not speak ill to them, hurt their feelings, nor do anything which angers them. </a:t>
            </a:r>
            <a:endParaRPr lang="en-US"/>
          </a:p>
          <a:p>
            <a:pPr marL="0" indent="0">
              <a:buNone/>
            </a:pPr>
            <a:r>
              <a:rPr lang="en-US"/>
              <a:t>  </a:t>
            </a:r>
            <a:r>
              <a:rPr lang="en-US" u="sng">
                <a:latin typeface="Times New Roman" panose="02020603050405020304" charset="0"/>
                <a:cs typeface="Times New Roman" panose="02020603050405020304" charset="0"/>
              </a:rPr>
              <a:t>Allah says:</a:t>
            </a:r>
            <a:endParaRPr lang="en-US" u="sng"/>
          </a:p>
          <a:p>
            <a:pPr marL="0" indent="0">
              <a:buNone/>
            </a:pPr>
            <a:r>
              <a:rPr lang="en-US">
                <a:latin typeface="Times New Roman" panose="02020603050405020304" charset="0"/>
                <a:cs typeface="Times New Roman" panose="02020603050405020304" charset="0"/>
              </a:rPr>
              <a:t>(And your Lord has decreed that you worship none but Him. And that you be dutiful to your parents. If one of them or both of them attain old age in your life, say not to them a word of disrespect, nor shout at them but address them in terms of honor.) [17:23]</a:t>
            </a:r>
            <a:endParaRPr lang="en-US">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84785"/>
            <a:ext cx="10515600" cy="1114425"/>
          </a:xfrm>
        </p:spPr>
        <p:txBody>
          <a:bodyPr/>
          <a:p>
            <a:r>
              <a:rPr lang="en-US" b="1" u="sng"/>
              <a:t>Rights Owed To Children:</a:t>
            </a:r>
            <a:endParaRPr lang="en-US" b="1" u="sng"/>
          </a:p>
        </p:txBody>
      </p:sp>
      <p:sp>
        <p:nvSpPr>
          <p:cNvPr id="3" name="Content Placeholder 2"/>
          <p:cNvSpPr>
            <a:spLocks noGrp="1"/>
          </p:cNvSpPr>
          <p:nvPr>
            <p:ph idx="1"/>
          </p:nvPr>
        </p:nvSpPr>
        <p:spPr>
          <a:xfrm>
            <a:off x="264160" y="1161415"/>
            <a:ext cx="11769725" cy="5529580"/>
          </a:xfrm>
        </p:spPr>
        <p:txBody>
          <a:bodyPr/>
          <a:p>
            <a:r>
              <a:rPr lang="en-US"/>
              <a:t>The rights owed to children is that they must be protected, their affairs must be taken care of, they must be given a proper upbringing, and their needs must be met, such as food, drink, dress, and accommodation.</a:t>
            </a:r>
            <a:endParaRPr lang="en-US"/>
          </a:p>
          <a:p>
            <a:r>
              <a:rPr lang="en-US"/>
              <a:t>They should be taught good manners, such as modesty, respect for elders, truthfulness, honesty, obedience to parents, and that they be kept away from foul language and evil deeds, such as telling lies, fraud , dishonesty, robbery, disobedience to parents, etc.</a:t>
            </a:r>
            <a:endParaRPr lang="en-US"/>
          </a:p>
          <a:p>
            <a:r>
              <a:rPr lang="en-US" b="1" u="sng">
                <a:latin typeface="Times New Roman" panose="02020603050405020304" charset="0"/>
                <a:cs typeface="Times New Roman" panose="02020603050405020304" charset="0"/>
              </a:rPr>
              <a:t>The Prophet (SAW) said:</a:t>
            </a:r>
            <a:endParaRPr lang="en-US" b="1" u="sng">
              <a:latin typeface="Times New Roman" panose="02020603050405020304" charset="0"/>
              <a:cs typeface="Times New Roman" panose="02020603050405020304" charset="0"/>
            </a:endParaRPr>
          </a:p>
          <a:p>
            <a:r>
              <a:rPr lang="en-US">
                <a:latin typeface="Times New Roman" panose="02020603050405020304" charset="0"/>
                <a:cs typeface="Times New Roman" panose="02020603050405020304" charset="0"/>
              </a:rPr>
              <a:t>“Everyone of you is a guardian, and responsible for what is in his custody. The ruler is a guardian of his subjects and responsible for them; a husband is a guardian of his family and is responsible for it; a woman is a guardian of her husband’s house and is responsible for it, and a servant is a guardian of his master’s property and is responsible for it.” (al-Bukhari)</a:t>
            </a:r>
            <a:endParaRPr lang="en-US">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1072515"/>
          </a:xfrm>
        </p:spPr>
        <p:txBody>
          <a:bodyPr/>
          <a:p>
            <a:r>
              <a:rPr lang="en-US" b="1" u="sng"/>
              <a:t>Relatives:</a:t>
            </a:r>
            <a:endParaRPr lang="en-US" b="1" u="sng"/>
          </a:p>
        </p:txBody>
      </p:sp>
      <p:sp>
        <p:nvSpPr>
          <p:cNvPr id="3" name="Content Placeholder 2"/>
          <p:cNvSpPr>
            <a:spLocks noGrp="1"/>
          </p:cNvSpPr>
          <p:nvPr>
            <p:ph idx="1"/>
          </p:nvPr>
        </p:nvSpPr>
        <p:spPr>
          <a:xfrm>
            <a:off x="838200" y="1437640"/>
            <a:ext cx="10888980" cy="5127625"/>
          </a:xfrm>
        </p:spPr>
        <p:txBody>
          <a:bodyPr/>
          <a:p>
            <a:r>
              <a:rPr lang="en-US"/>
              <a:t>Islam has urged well to do people to help and take care of their relatives, financially – by fulfilling their requirements through obligatory or voluntary charity, and morally – by inquiring about their condition, treating them with kindness and sympathy and sharing their joys and sorrows. </a:t>
            </a:r>
            <a:endParaRPr lang="en-US"/>
          </a:p>
          <a:p>
            <a:pPr marL="0" indent="0">
              <a:buNone/>
            </a:pPr>
            <a:r>
              <a:rPr lang="en-US"/>
              <a:t>  Allah says:</a:t>
            </a:r>
            <a:endParaRPr lang="en-US"/>
          </a:p>
          <a:p>
            <a:r>
              <a:rPr lang="en-US"/>
              <a:t>(And fear Allah through Whom you demand (your mutual rights), and do not cut the relations of the wombs (kinship).) [4:1]</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86055"/>
            <a:ext cx="10515600" cy="1043940"/>
          </a:xfrm>
        </p:spPr>
        <p:txBody>
          <a:bodyPr/>
          <a:p>
            <a:r>
              <a:rPr lang="en-US" b="1" u="sng"/>
              <a:t>Neighbours:</a:t>
            </a:r>
            <a:endParaRPr lang="en-US" b="1" u="sng"/>
          </a:p>
        </p:txBody>
      </p:sp>
      <p:sp>
        <p:nvSpPr>
          <p:cNvPr id="3" name="Content Placeholder 2"/>
          <p:cNvSpPr>
            <a:spLocks noGrp="1"/>
          </p:cNvSpPr>
          <p:nvPr>
            <p:ph idx="1"/>
          </p:nvPr>
        </p:nvSpPr>
        <p:spPr>
          <a:xfrm>
            <a:off x="330835" y="1229995"/>
            <a:ext cx="11022965" cy="5484495"/>
          </a:xfrm>
        </p:spPr>
        <p:txBody>
          <a:bodyPr>
            <a:normAutofit lnSpcReduction="10000"/>
          </a:bodyPr>
          <a:p>
            <a:pPr marL="0" indent="0">
              <a:buNone/>
            </a:pPr>
            <a:r>
              <a:rPr lang="en-US"/>
              <a:t>There Are Three Types Of Neighbours:</a:t>
            </a:r>
            <a:endParaRPr lang="en-US"/>
          </a:p>
          <a:p>
            <a:r>
              <a:rPr lang="en-US" u="sng"/>
              <a:t>A Muslim relative:</a:t>
            </a:r>
            <a:endParaRPr lang="en-US" u="sng"/>
          </a:p>
          <a:p>
            <a:pPr marL="0" indent="0">
              <a:buNone/>
            </a:pPr>
            <a:r>
              <a:rPr lang="en-US"/>
              <a:t> This neighbor has three rights: </a:t>
            </a:r>
            <a:endParaRPr lang="en-US"/>
          </a:p>
          <a:p>
            <a:pPr marL="0" indent="0">
              <a:buNone/>
            </a:pPr>
            <a:r>
              <a:rPr lang="en-US"/>
              <a:t>i)The rights of relatives, ii)neighbours, iii) Muslims.</a:t>
            </a:r>
            <a:endParaRPr lang="en-US"/>
          </a:p>
          <a:p>
            <a:r>
              <a:rPr lang="en-US" u="sng"/>
              <a:t>The Muslim neighbour:</a:t>
            </a:r>
            <a:endParaRPr lang="en-US" u="sng"/>
          </a:p>
          <a:p>
            <a:pPr marL="0" indent="0">
              <a:buNone/>
            </a:pPr>
            <a:r>
              <a:rPr lang="en-US"/>
              <a:t> This type has two rights: </a:t>
            </a:r>
            <a:endParaRPr lang="en-US"/>
          </a:p>
          <a:p>
            <a:pPr marL="0" indent="0">
              <a:buNone/>
            </a:pPr>
            <a:r>
              <a:rPr lang="en-US"/>
              <a:t>i)The rights of neighbours ii) the rights of Muslims.</a:t>
            </a:r>
            <a:endParaRPr lang="en-US"/>
          </a:p>
          <a:p>
            <a:r>
              <a:rPr lang="en-US" u="sng"/>
              <a:t>A non-Muslim neighbour:</a:t>
            </a:r>
            <a:endParaRPr lang="en-US" u="sng"/>
          </a:p>
          <a:p>
            <a:pPr marL="0" indent="0">
              <a:buNone/>
            </a:pPr>
            <a:r>
              <a:rPr lang="en-US"/>
              <a:t> This type has one right:</a:t>
            </a:r>
            <a:endParaRPr lang="en-US"/>
          </a:p>
          <a:p>
            <a:pPr marL="0" indent="0">
              <a:buNone/>
            </a:pPr>
            <a:r>
              <a:rPr lang="en-US"/>
              <a:t> i)The right of neighbours</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843280"/>
          </a:xfrm>
        </p:spPr>
        <p:txBody>
          <a:bodyPr/>
          <a:p>
            <a:r>
              <a:rPr lang="en-US" b="1" u="sng"/>
              <a:t>State:</a:t>
            </a:r>
            <a:endParaRPr lang="en-US" b="1" u="sng"/>
          </a:p>
        </p:txBody>
      </p:sp>
      <p:sp>
        <p:nvSpPr>
          <p:cNvPr id="3" name="Content Placeholder 2"/>
          <p:cNvSpPr>
            <a:spLocks noGrp="1"/>
          </p:cNvSpPr>
          <p:nvPr>
            <p:ph idx="1"/>
          </p:nvPr>
        </p:nvSpPr>
        <p:spPr>
          <a:xfrm>
            <a:off x="520700" y="1523365"/>
            <a:ext cx="11346180" cy="5092065"/>
          </a:xfrm>
        </p:spPr>
        <p:txBody>
          <a:bodyPr/>
          <a:p>
            <a:r>
              <a:rPr lang="en-US"/>
              <a:t>Islam is a religion of nature and leaves the teachings for human beings which promote welfare and care taking attitude in the natives of Islamic state. </a:t>
            </a:r>
            <a:endParaRPr lang="en-US"/>
          </a:p>
          <a:p>
            <a:r>
              <a:rPr lang="en-US"/>
              <a:t>The people having authority in the state are stressed to provide the basic needs to every citizen of the state at his doorstep not on his demand. </a:t>
            </a:r>
            <a:endParaRPr lang="en-US"/>
          </a:p>
          <a:p>
            <a:r>
              <a:rPr lang="en-US"/>
              <a:t>Head of the state is bound to look after the public of the state. If the people are free from the worries of their livelihood then the leader must not feel the fear of his enemies</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24485" y="496570"/>
            <a:ext cx="11618595" cy="6089015"/>
          </a:xfrm>
        </p:spPr>
        <p:txBody>
          <a:bodyPr/>
          <a:p>
            <a:r>
              <a:rPr lang="en-US"/>
              <a:t>“Amar Bil Maroof Wa Nahi Anil Munkir” (Promote the right &amp; forbid the wrong).(22:44)</a:t>
            </a:r>
            <a:endParaRPr lang="en-US"/>
          </a:p>
          <a:p>
            <a:pPr marL="0" indent="0">
              <a:buNone/>
            </a:pPr>
            <a:endParaRPr lang="en-US"/>
          </a:p>
          <a:p>
            <a:r>
              <a:rPr lang="en-US"/>
              <a:t>The state is responsible for the welfare of all its citizens (Muslims &amp; Non-Muslims alike).</a:t>
            </a:r>
            <a:endParaRPr lang="en-US"/>
          </a:p>
          <a:p>
            <a:pPr marL="0" indent="0">
              <a:buNone/>
            </a:pPr>
            <a:endParaRPr lang="en-US"/>
          </a:p>
          <a:p>
            <a:r>
              <a:rPr lang="en-US"/>
              <a:t>It must gurantee the basic necessities of life.</a:t>
            </a:r>
            <a:endParaRPr lang="en-US"/>
          </a:p>
          <a:p>
            <a:pPr marL="0" indent="0">
              <a:buNone/>
            </a:pPr>
            <a:endParaRPr lang="en-US"/>
          </a:p>
          <a:p>
            <a:r>
              <a:rPr lang="en-US"/>
              <a:t>Every citizen shall be free to develop his potential,improve his capacity,</a:t>
            </a:r>
            <a:endParaRPr lang="en-US"/>
          </a:p>
          <a:p>
            <a:pPr marL="0" indent="0">
              <a:buNone/>
            </a:pPr>
            <a:r>
              <a:rPr lang="en-US"/>
              <a:t>   earn and possesss.</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83515"/>
            <a:ext cx="10515600" cy="1039495"/>
          </a:xfrm>
        </p:spPr>
        <p:txBody>
          <a:bodyPr/>
          <a:p>
            <a:r>
              <a:rPr lang="en-US" b="1" u="sng"/>
              <a:t>Ummah:</a:t>
            </a:r>
            <a:endParaRPr lang="en-US" b="1" u="sng"/>
          </a:p>
        </p:txBody>
      </p:sp>
      <p:sp>
        <p:nvSpPr>
          <p:cNvPr id="3" name="Content Placeholder 2"/>
          <p:cNvSpPr>
            <a:spLocks noGrp="1"/>
          </p:cNvSpPr>
          <p:nvPr>
            <p:ph idx="1"/>
          </p:nvPr>
        </p:nvSpPr>
        <p:spPr>
          <a:xfrm>
            <a:off x="219710" y="1388110"/>
            <a:ext cx="11677650" cy="5407660"/>
          </a:xfrm>
        </p:spPr>
        <p:txBody>
          <a:bodyPr>
            <a:normAutofit lnSpcReduction="20000"/>
          </a:bodyPr>
          <a:p>
            <a:pPr marL="0" indent="0">
              <a:buNone/>
            </a:pPr>
            <a:r>
              <a:rPr lang="en-US"/>
              <a:t>Islam obligates upon Muslims to regard the conditions of their Muslim brothers, wherever they may be.</a:t>
            </a:r>
            <a:endParaRPr lang="en-US"/>
          </a:p>
          <a:p>
            <a:pPr marL="0" indent="0">
              <a:buNone/>
            </a:pPr>
            <a:r>
              <a:rPr lang="en-US"/>
              <a:t>  </a:t>
            </a:r>
            <a:r>
              <a:rPr lang="en-US">
                <a:latin typeface="Times New Roman" panose="02020603050405020304" charset="0"/>
                <a:cs typeface="Times New Roman" panose="02020603050405020304" charset="0"/>
              </a:rPr>
              <a:t>The Prophet (SAW) said:</a:t>
            </a:r>
            <a:endParaRPr lang="en-US">
              <a:latin typeface="Times New Roman" panose="02020603050405020304" charset="0"/>
              <a:cs typeface="Times New Roman" panose="02020603050405020304" charset="0"/>
            </a:endParaRPr>
          </a:p>
          <a:p>
            <a:r>
              <a:rPr lang="en-US">
                <a:latin typeface="Times New Roman" panose="02020603050405020304" charset="0"/>
                <a:cs typeface="Times New Roman" panose="02020603050405020304" charset="0"/>
              </a:rPr>
              <a:t>“The believers in their love, mercy and their feelings for each other are like one body: if one part feels pains, all the other parts feel pain through fever and sleeplessness.” ( Muslim)</a:t>
            </a:r>
            <a:endParaRPr lang="en-US">
              <a:latin typeface="Times New Roman" panose="02020603050405020304" charset="0"/>
              <a:cs typeface="Times New Roman" panose="02020603050405020304" charset="0"/>
            </a:endParaRPr>
          </a:p>
          <a:p>
            <a:pPr marL="0" indent="0">
              <a:buNone/>
            </a:pPr>
            <a:r>
              <a:rPr lang="en-US"/>
              <a:t>Islam orders that Muslims strive to improve their condition.</a:t>
            </a:r>
            <a:endParaRPr lang="en-US"/>
          </a:p>
          <a:p>
            <a:pPr marL="0" indent="0">
              <a:buNone/>
            </a:pPr>
            <a:r>
              <a:rPr lang="en-US"/>
              <a:t>  </a:t>
            </a:r>
            <a:r>
              <a:rPr lang="en-US">
                <a:latin typeface="Times New Roman" panose="02020603050405020304" charset="0"/>
                <a:cs typeface="Times New Roman" panose="02020603050405020304" charset="0"/>
              </a:rPr>
              <a:t>The Prophet (SAW) said:</a:t>
            </a:r>
            <a:endParaRPr lang="en-US">
              <a:latin typeface="Times New Roman" panose="02020603050405020304" charset="0"/>
              <a:cs typeface="Times New Roman" panose="02020603050405020304" charset="0"/>
            </a:endParaRPr>
          </a:p>
          <a:p>
            <a:r>
              <a:rPr lang="en-US">
                <a:latin typeface="Times New Roman" panose="02020603050405020304" charset="0"/>
                <a:cs typeface="Times New Roman" panose="02020603050405020304" charset="0"/>
              </a:rPr>
              <a:t>“None of you believes until he loves for his brother what he loves for himself.” (al-Bukhari)</a:t>
            </a:r>
            <a:endParaRPr lang="en-US">
              <a:latin typeface="Times New Roman" panose="02020603050405020304" charset="0"/>
              <a:cs typeface="Times New Roman" panose="02020603050405020304" charset="0"/>
            </a:endParaRPr>
          </a:p>
          <a:p>
            <a:pPr marL="0" indent="0">
              <a:buNone/>
            </a:pPr>
            <a:r>
              <a:rPr lang="en-US"/>
              <a:t>Islam orders that Muslims stand by their brothers at times of crises and agony.</a:t>
            </a:r>
            <a:endParaRPr lang="en-US"/>
          </a:p>
          <a:p>
            <a:pPr marL="0" indent="0">
              <a:buNone/>
            </a:pPr>
            <a:r>
              <a:rPr lang="en-US">
                <a:latin typeface="Times New Roman" panose="02020603050405020304" charset="0"/>
                <a:cs typeface="Times New Roman" panose="02020603050405020304" charset="0"/>
              </a:rPr>
              <a:t>  The Prophet (SAW) said:</a:t>
            </a:r>
            <a:endParaRPr lang="en-US">
              <a:latin typeface="Times New Roman" panose="02020603050405020304" charset="0"/>
              <a:cs typeface="Times New Roman" panose="02020603050405020304" charset="0"/>
            </a:endParaRPr>
          </a:p>
          <a:p>
            <a:r>
              <a:rPr lang="en-US">
                <a:latin typeface="Times New Roman" panose="02020603050405020304" charset="0"/>
                <a:cs typeface="Times New Roman" panose="02020603050405020304" charset="0"/>
              </a:rPr>
              <a:t>“The believers are like a solid structure, each one (brick) strengthens the other (and then he clasped his hands and intertwined his fingers).” (al-Bukhari)</a:t>
            </a:r>
            <a:endParaRPr lang="en-US">
              <a:latin typeface="Times New Roman" panose="02020603050405020304" charset="0"/>
              <a:cs typeface="Times New Roman" panose="0202060305040502030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4186</Words>
  <Application>WPS Presentation</Application>
  <PresentationFormat>Widescreen</PresentationFormat>
  <Paragraphs>73</Paragraphs>
  <Slides>9</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9</vt:i4>
      </vt:variant>
    </vt:vector>
  </HeadingPairs>
  <TitlesOfParts>
    <vt:vector size="19" baseType="lpstr">
      <vt:lpstr>Arial</vt:lpstr>
      <vt:lpstr>SimSun</vt:lpstr>
      <vt:lpstr>Wingdings</vt:lpstr>
      <vt:lpstr>Calibri Light</vt:lpstr>
      <vt:lpstr>Calibri</vt:lpstr>
      <vt:lpstr>Microsoft YaHei</vt:lpstr>
      <vt:lpstr>Arial Unicode MS</vt:lpstr>
      <vt:lpstr>Times New Roman</vt:lpstr>
      <vt:lpstr>MS Reference Sans Serif</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Fundamental Units Of Social Affairs In Islam:</dc:title>
  <dc:creator/>
  <cp:lastModifiedBy>ACS</cp:lastModifiedBy>
  <cp:revision>1</cp:revision>
  <dcterms:created xsi:type="dcterms:W3CDTF">2020-03-23T15:54:45Z</dcterms:created>
  <dcterms:modified xsi:type="dcterms:W3CDTF">2020-03-23T15:54:45Z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1033-11.2.0.9232</vt:lpwstr>
  </property>
</Properties>
</file>